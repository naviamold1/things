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309" r:id="rId5"/>
    <p:sldId id="1666" r:id="rId6"/>
    <p:sldId id="1667" r:id="rId7"/>
    <p:sldId id="1668" r:id="rId8"/>
    <p:sldId id="1669" r:id="rId9"/>
    <p:sldId id="1670" r:id="rId10"/>
    <p:sldId id="1671" r:id="rId11"/>
    <p:sldId id="1674" r:id="rId12"/>
    <p:sldId id="1673" r:id="rId13"/>
    <p:sldId id="16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5"/>
  </p:normalViewPr>
  <p:slideViewPr>
    <p:cSldViewPr snapToGrid="0">
      <p:cViewPr varScale="1">
        <p:scale>
          <a:sx n="98" d="100"/>
          <a:sy n="98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57" r:id="rId40"/>
    <p:sldLayoutId id="2147483762" r:id="rId41"/>
    <p:sldLayoutId id="2147483764" r:id="rId42"/>
    <p:sldLayoutId id="2147483767" r:id="rId43"/>
    <p:sldLayoutId id="2147483664" r:id="rId44"/>
    <p:sldLayoutId id="2147483665" r:id="rId45"/>
    <p:sldLayoutId id="2147483666" r:id="rId46"/>
    <p:sldLayoutId id="2147483667" r:id="rId47"/>
    <p:sldLayoutId id="2147483668" r:id="rId48"/>
    <p:sldLayoutId id="2147483669" r:id="rId49"/>
    <p:sldLayoutId id="2147483685" r:id="rId50"/>
    <p:sldLayoutId id="2147483730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E92D4A-2B01-7C79-765D-37A3B922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RISC</a:t>
            </a:r>
            <a:r>
              <a:rPr lang="ka-GE" dirty="0"/>
              <a:t> </a:t>
            </a:r>
            <a:br>
              <a:rPr lang="en-US" dirty="0"/>
            </a:br>
            <a:r>
              <a:rPr lang="ka-GE" dirty="0"/>
              <a:t>და </a:t>
            </a:r>
            <a:br>
              <a:rPr lang="en-US" dirty="0"/>
            </a:br>
            <a:r>
              <a:rPr lang="en-US" dirty="0"/>
              <a:t>CISC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14E2E02-FD44-8495-42A7-69BFA6085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ka-GE" dirty="0"/>
              <a:t>ილია არქანია</a:t>
            </a:r>
          </a:p>
          <a:p>
            <a:r>
              <a:rPr lang="ka-GE" dirty="0"/>
              <a:t>დაჩი ირემაშვილი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8399731-5F97-E9F2-6BCE-D012F2544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8" r="17698"/>
          <a:stretch/>
        </p:blipFill>
        <p:spPr>
          <a:xfrm>
            <a:off x="5591348" y="343038"/>
            <a:ext cx="6257031" cy="6172200"/>
          </a:xfrm>
          <a:noFill/>
        </p:spPr>
      </p:pic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5DCE18-F13B-8DA5-03A8-5AD6C716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ka-GE" dirty="0"/>
              <a:t>პროცესორი</a:t>
            </a:r>
            <a:endParaRPr lang="en-15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C7574-0EDC-9E77-3F19-4FDEE328D1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>
            <a:normAutofit/>
          </a:bodyPr>
          <a:lstStyle/>
          <a:p>
            <a:r>
              <a:rPr lang="ka-GE" dirty="0"/>
              <a:t>სისტემური ბლოკის „</a:t>
            </a:r>
            <a:r>
              <a:rPr lang="ka-GE" dirty="0" err="1"/>
              <a:t>ტვინი</a:t>
            </a:r>
            <a:r>
              <a:rPr lang="ka-GE" dirty="0"/>
              <a:t>“</a:t>
            </a:r>
          </a:p>
          <a:p>
            <a:r>
              <a:rPr lang="ka-GE" dirty="0"/>
              <a:t>იღებს მონაცემებს</a:t>
            </a:r>
          </a:p>
          <a:p>
            <a:r>
              <a:rPr lang="ka-GE" dirty="0"/>
              <a:t>ამუშავებს მონაცემებს მითითებული ინსტრუქციების მიხედვით</a:t>
            </a:r>
            <a:endParaRPr lang="en-US" dirty="0"/>
          </a:p>
          <a:p>
            <a:r>
              <a:rPr lang="en-US" dirty="0"/>
              <a:t>Fetch-Decode-Execute </a:t>
            </a:r>
            <a:endParaRPr lang="ka-GE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3F4E7B0-0285-D0F6-F4CF-F098D7C4B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56" y="1189051"/>
            <a:ext cx="6771421" cy="46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D675A9-46D2-8D61-5D56-61792DD17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44" y="2021011"/>
            <a:ext cx="7417039" cy="25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6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7209-A82C-3A9A-C4C0-F968FC74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>
            <a:normAutofit/>
          </a:bodyPr>
          <a:lstStyle/>
          <a:p>
            <a:r>
              <a:rPr lang="ka-GE" dirty="0"/>
              <a:t>ინსტრუქციების ნაკრების არქიტექტურა</a:t>
            </a:r>
            <a:endParaRPr lang="en-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4784A-97DE-A785-B555-7D72E8212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93" r="14927" b="-2"/>
          <a:stretch>
            <a:fillRect/>
          </a:stretch>
        </p:blipFill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E1898-EBA7-A7F6-8478-03456C60C21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dirty="0"/>
              <a:t>ინტერფეისი </a:t>
            </a:r>
            <a:r>
              <a:rPr lang="en-US" dirty="0"/>
              <a:t>Software</a:t>
            </a:r>
            <a:r>
              <a:rPr lang="ka-GE" dirty="0"/>
              <a:t>-სა და</a:t>
            </a:r>
            <a:r>
              <a:rPr lang="en-US" dirty="0"/>
              <a:t> </a:t>
            </a:r>
            <a:r>
              <a:rPr lang="ka-GE" dirty="0"/>
              <a:t>პროცესორის შორის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dirty="0"/>
              <a:t>ინსტრუქციების სახეობები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dirty="0"/>
              <a:t>რეგისტრები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a-GE" dirty="0"/>
              <a:t>ოპერაციულ მეხსიერებასთან წვდომა </a:t>
            </a:r>
            <a:endParaRPr lang="en-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11D52-D496-BCD0-55D1-D4D91A1D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166" y="47625"/>
            <a:ext cx="213360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1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6DAF8F-6B2F-027F-4D54-22C028D8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dirty="0"/>
              <a:t>CISC</a:t>
            </a:r>
            <a:endParaRPr lang="en-15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9F40E4E-4EF8-372A-516A-07BB421BBFA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9621" r="19096" b="-1"/>
          <a:stretch>
            <a:fillRect/>
          </a:stretch>
        </p:blipFill>
        <p:spPr>
          <a:xfrm>
            <a:off x="342901" y="345109"/>
            <a:ext cx="6714969" cy="616350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AF384D5-15C8-02BB-CE41-7685F70CCB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/>
          <a:lstStyle/>
          <a:p>
            <a:r>
              <a:rPr lang="ka-GE" dirty="0"/>
              <a:t>აქვს ბევრი ინსტრუქცია</a:t>
            </a:r>
          </a:p>
          <a:p>
            <a:r>
              <a:rPr lang="ka-GE" dirty="0"/>
              <a:t>იყენებს ნაკლებ </a:t>
            </a:r>
            <a:r>
              <a:rPr lang="en-US" dirty="0"/>
              <a:t>RAM</a:t>
            </a:r>
            <a:r>
              <a:rPr lang="ka-GE" dirty="0"/>
              <a:t>-ს</a:t>
            </a:r>
          </a:p>
          <a:p>
            <a:r>
              <a:rPr lang="ka-GE" dirty="0"/>
              <a:t>სჭირდება ბევრი ტრანზისტორი</a:t>
            </a:r>
          </a:p>
          <a:p>
            <a:r>
              <a:rPr lang="ka-GE" dirty="0"/>
              <a:t>გამოიყენება უმეტესობა კომპიუტერებში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D2F81-B6F8-B9CD-AD50-45C91C90B107}"/>
              </a:ext>
            </a:extLst>
          </p:cNvPr>
          <p:cNvSpPr txBox="1"/>
          <p:nvPr/>
        </p:nvSpPr>
        <p:spPr>
          <a:xfrm>
            <a:off x="7644383" y="766064"/>
            <a:ext cx="4397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„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 the complexity is moved to Hardware to make Software simpler</a:t>
            </a:r>
            <a:r>
              <a:rPr lang="ka-GE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endParaRPr lang="en-150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114D-ACF8-EED1-30E6-E7D4B07A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883942"/>
          </a:xfrm>
        </p:spPr>
        <p:txBody>
          <a:bodyPr anchor="b">
            <a:normAutofit/>
          </a:bodyPr>
          <a:lstStyle/>
          <a:p>
            <a:r>
              <a:rPr lang="en-US" dirty="0"/>
              <a:t>RISC</a:t>
            </a:r>
            <a:endParaRPr lang="en-15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68F1718-E02F-CEBA-7421-800F871BA81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3374" r="-3" b="2723"/>
          <a:stretch>
            <a:fillRect/>
          </a:stretch>
        </p:blipFill>
        <p:spPr>
          <a:xfrm>
            <a:off x="342901" y="345109"/>
            <a:ext cx="6714969" cy="616350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053BC-5FD1-9C08-AAC7-850DA4588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66562" y="2305455"/>
            <a:ext cx="4401182" cy="3956153"/>
          </a:xfrm>
        </p:spPr>
        <p:txBody>
          <a:bodyPr>
            <a:normAutofit/>
          </a:bodyPr>
          <a:lstStyle/>
          <a:p>
            <a:r>
              <a:rPr lang="ka-GE" dirty="0"/>
              <a:t>შეიცავს მარტო ძირითად ინსტრუქციებს</a:t>
            </a:r>
          </a:p>
          <a:p>
            <a:r>
              <a:rPr lang="ka-GE" dirty="0"/>
              <a:t>პროგრამებს უფრო მეტი კოდი სჭირდებათ</a:t>
            </a:r>
          </a:p>
          <a:p>
            <a:r>
              <a:rPr lang="ka-GE" dirty="0"/>
              <a:t>უფრო სწრაფად ამუშავებს ბრძანებებს</a:t>
            </a:r>
          </a:p>
          <a:p>
            <a:r>
              <a:rPr lang="ka-GE" dirty="0"/>
              <a:t>სჭირდება მეტი </a:t>
            </a:r>
            <a:r>
              <a:rPr lang="en-US" dirty="0"/>
              <a:t>RAM</a:t>
            </a:r>
            <a:r>
              <a:rPr lang="ka-GE" dirty="0"/>
              <a:t>-ი</a:t>
            </a:r>
          </a:p>
          <a:p>
            <a:r>
              <a:rPr lang="ka-GE" dirty="0"/>
              <a:t>გამოიყენება ჩაშენებულ სისტემებში, მიკრო-</a:t>
            </a:r>
            <a:r>
              <a:rPr lang="ka-GE" dirty="0" err="1"/>
              <a:t>კონტროლერებში</a:t>
            </a:r>
            <a:r>
              <a:rPr lang="ka-GE" dirty="0"/>
              <a:t>, მანქანებსა და </a:t>
            </a:r>
            <a:r>
              <a:rPr lang="en-US" dirty="0"/>
              <a:t>MacBook</a:t>
            </a:r>
            <a:r>
              <a:rPr lang="ka-GE" dirty="0"/>
              <a:t>-ებში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C8E6B-F2BC-B0B9-67F4-836014F8A59E}"/>
              </a:ext>
            </a:extLst>
          </p:cNvPr>
          <p:cNvSpPr txBox="1"/>
          <p:nvPr/>
        </p:nvSpPr>
        <p:spPr>
          <a:xfrm>
            <a:off x="7644383" y="345109"/>
            <a:ext cx="4397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„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Hardware is kept simple by putting emphasis on Software</a:t>
            </a:r>
            <a:r>
              <a:rPr lang="ka-GE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endParaRPr lang="en-150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5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05B-E4FF-CEE1-98E7-2BED470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შედარება</a:t>
            </a:r>
            <a:endParaRPr lang="en-150" dirty="0"/>
          </a:p>
        </p:txBody>
      </p:sp>
      <p:pic>
        <p:nvPicPr>
          <p:cNvPr id="4098" name="Picture 2" descr="Don't want to risk? Learn more about RISC processors">
            <a:extLst>
              <a:ext uri="{FF2B5EF4-FFF2-40B4-BE49-F238E27FC236}">
                <a16:creationId xmlns:a16="http://schemas.microsoft.com/office/drawing/2014/main" id="{143E41D6-D388-1366-F79C-B868DD16A423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259" y="3813243"/>
            <a:ext cx="5873481" cy="26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66529-99A4-580C-BD30-EF2F37D60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560" y="1834667"/>
            <a:ext cx="6040877" cy="181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4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FA11-FB39-37EE-79FA-1A1346F7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>
            <a:normAutofit/>
          </a:bodyPr>
          <a:lstStyle/>
          <a:p>
            <a:r>
              <a:rPr lang="en-US" dirty="0"/>
              <a:t>RISC </a:t>
            </a:r>
            <a:r>
              <a:rPr lang="ka-GE" dirty="0"/>
              <a:t>და </a:t>
            </a:r>
            <a:r>
              <a:rPr lang="en-US" dirty="0"/>
              <a:t>CISC </a:t>
            </a:r>
            <a:r>
              <a:rPr lang="ka-GE" dirty="0"/>
              <a:t>თანამედროვე ტექნოლოგიებში</a:t>
            </a:r>
            <a:endParaRPr lang="en-15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5EB9A96-58B4-D073-241F-E91EA8107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1737582" y="1380744"/>
            <a:ext cx="8713216" cy="4901184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06514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69DD-B023-CC1D-E657-2347F806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935015-367C-BB10-384C-81AA9AC3A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767" y="345514"/>
            <a:ext cx="11328400" cy="26722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91FC0-C03C-40C7-C425-32491959E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584" y="3429000"/>
            <a:ext cx="5544766" cy="31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4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087F-9ACB-B2EF-F26F-3FB6ED21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ARM</a:t>
            </a:r>
            <a:r>
              <a:rPr lang="ka-GE" dirty="0"/>
              <a:t> პროცესორები </a:t>
            </a:r>
            <a:r>
              <a:rPr lang="ka-GE" dirty="0" err="1"/>
              <a:t>ლეპტოპებში</a:t>
            </a:r>
            <a:endParaRPr lang="en-150" dirty="0"/>
          </a:p>
        </p:txBody>
      </p:sp>
      <p:pic>
        <p:nvPicPr>
          <p:cNvPr id="6148" name="Picture 4" descr="Apple Silicon M1 chip: Here's what we know | ZDNET">
            <a:extLst>
              <a:ext uri="{FF2B5EF4-FFF2-40B4-BE49-F238E27FC236}">
                <a16:creationId xmlns:a16="http://schemas.microsoft.com/office/drawing/2014/main" id="{00FD7B3F-98DC-7F33-44F8-D56FA98BBA9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" r="-3" b="-3"/>
          <a:stretch>
            <a:fillRect/>
          </a:stretch>
        </p:blipFill>
        <p:spPr bwMode="auto">
          <a:xfrm>
            <a:off x="341522" y="342902"/>
            <a:ext cx="6249778" cy="617234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146" name="Picture 2" descr="Snapdragon X2 laptops will run 90% of all Windows games | Windows Central">
            <a:extLst>
              <a:ext uri="{FF2B5EF4-FFF2-40B4-BE49-F238E27FC236}">
                <a16:creationId xmlns:a16="http://schemas.microsoft.com/office/drawing/2014/main" id="{79D330B6-69E8-C161-C32D-DFCC46B9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0" r="14595" b="1"/>
          <a:stretch>
            <a:fillRect/>
          </a:stretch>
        </p:blipFill>
        <p:spPr bwMode="auto">
          <a:xfrm>
            <a:off x="7196328" y="2276856"/>
            <a:ext cx="4389120" cy="404164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5108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16666-556F-E61C-B685-895CE9AEC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ka-GE" dirty="0"/>
              <a:t>მადლობა ყურადღებისათვის!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D42E6AB-7B31-6FE7-AEA6-913B09E3C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/>
          <a:lstStyle/>
          <a:p>
            <a:r>
              <a:rPr lang="ka-GE" dirty="0"/>
              <a:t>კითხვები?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902B700-F857-C589-A7F1-5F47B689E1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901" y="343038"/>
            <a:ext cx="11506200" cy="4792766"/>
          </a:xfrm>
        </p:spPr>
      </p:pic>
    </p:spTree>
    <p:extLst>
      <p:ext uri="{BB962C8B-B14F-4D97-AF65-F5344CB8AC3E}">
        <p14:creationId xmlns:p14="http://schemas.microsoft.com/office/powerpoint/2010/main" val="4120932547"/>
      </p:ext>
    </p:extLst>
  </p:cSld>
  <p:clrMapOvr>
    <a:masterClrMapping/>
  </p:clrMapOvr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AE7ADC-5572-47FE-BE40-4792EA70A8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232D5D-6EDA-4316-A27A-FEC1DABA69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156391-F804-4A06-B48F-8124C299B4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{4729ACD4-BE6E-48C0-98D8-AD86EF98B071}9901052e-9f9b-49a5-9493-59375491d64e-TF100df7e3-a978-4a95-a97b-183e1fcc9fc7_win32</Template>
  <TotalTime>10610</TotalTime>
  <Words>118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DuneVTI</vt:lpstr>
      <vt:lpstr>RISC  და  CISC</vt:lpstr>
      <vt:lpstr>პროცესორი</vt:lpstr>
      <vt:lpstr>ინსტრუქციების ნაკრების არქიტექტურა</vt:lpstr>
      <vt:lpstr>CISC</vt:lpstr>
      <vt:lpstr>RISC</vt:lpstr>
      <vt:lpstr>შედარება</vt:lpstr>
      <vt:lpstr>RISC და CISC თანამედროვე ტექნოლოგიებში</vt:lpstr>
      <vt:lpstr>PowerPoint Presentation</vt:lpstr>
      <vt:lpstr>ARM პროცესორები ლეპტოპებში</vt:lpstr>
      <vt:lpstr>მადლობა ყურადღებისათვის!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Ilia Arkania</dc:creator>
  <cp:lastModifiedBy>Ilia Arkania</cp:lastModifiedBy>
  <cp:revision>4</cp:revision>
  <dcterms:created xsi:type="dcterms:W3CDTF">2026-05-15T19:51:25Z</dcterms:created>
  <dcterms:modified xsi:type="dcterms:W3CDTF">2026-06-06T08:11:29Z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