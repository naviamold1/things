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9"/>
  </p:notesMasterIdLst>
  <p:sldIdLst>
    <p:sldId id="256" r:id="rId2"/>
    <p:sldId id="266" r:id="rId3"/>
    <p:sldId id="270" r:id="rId4"/>
    <p:sldId id="261" r:id="rId5"/>
    <p:sldId id="267" r:id="rId6"/>
    <p:sldId id="269" r:id="rId7"/>
    <p:sldId id="265" r:id="rId8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E1FCE-0107-4080-9D81-CA11AC931666}" type="datetimeFigureOut">
              <a:rPr lang="en-150" smtClean="0"/>
              <a:t>04/05/2026</a:t>
            </a:fld>
            <a:endParaRPr lang="en-15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15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EC9E4-0759-4E54-B403-4864C3C4CDF3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45206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1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EC9E4-0759-4E54-B403-4864C3C4CDF3}" type="slidenum">
              <a:rPr lang="en-150" smtClean="0"/>
              <a:t>1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87583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8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3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3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4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2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30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6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0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4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ice.tsu.ge/liv/megr.ph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096EABF-579F-4307-8952-04905085F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45510-C686-3251-D2AB-665AFE15C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016" t="-155" r="16690" b="156"/>
          <a:stretch>
            <a:fillRect/>
          </a:stretch>
        </p:blipFill>
        <p:spPr>
          <a:xfrm>
            <a:off x="-33559" y="-3643"/>
            <a:ext cx="12225558" cy="6861643"/>
          </a:xfrm>
          <a:prstGeom prst="rect">
            <a:avLst/>
          </a:prstGeom>
        </p:spPr>
      </p:pic>
      <p:sp>
        <p:nvSpPr>
          <p:cNvPr id="20" name="Rectangle 23">
            <a:extLst>
              <a:ext uri="{FF2B5EF4-FFF2-40B4-BE49-F238E27FC236}">
                <a16:creationId xmlns:a16="http://schemas.microsoft.com/office/drawing/2014/main" id="{233D9D3E-2FB8-42AA-B5E5-1EAB4DA92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3556" y="-14280"/>
            <a:ext cx="4615080" cy="687227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240216 w 5664007"/>
              <a:gd name="connsiteY0" fmla="*/ 0 h 6857998"/>
              <a:gd name="connsiteX1" fmla="*/ 5664007 w 5664007"/>
              <a:gd name="connsiteY1" fmla="*/ 0 h 6857998"/>
              <a:gd name="connsiteX2" fmla="*/ 5664007 w 5664007"/>
              <a:gd name="connsiteY2" fmla="*/ 6857998 h 6857998"/>
              <a:gd name="connsiteX3" fmla="*/ 0 w 5664007"/>
              <a:gd name="connsiteY3" fmla="*/ 6846045 h 6857998"/>
              <a:gd name="connsiteX4" fmla="*/ 2240216 w 5664007"/>
              <a:gd name="connsiteY4" fmla="*/ 0 h 6857998"/>
              <a:gd name="connsiteX0" fmla="*/ 2170935 w 5594726"/>
              <a:gd name="connsiteY0" fmla="*/ 0 h 6865085"/>
              <a:gd name="connsiteX1" fmla="*/ 5594726 w 5594726"/>
              <a:gd name="connsiteY1" fmla="*/ 0 h 6865085"/>
              <a:gd name="connsiteX2" fmla="*/ 5594726 w 5594726"/>
              <a:gd name="connsiteY2" fmla="*/ 6857998 h 6865085"/>
              <a:gd name="connsiteX3" fmla="*/ 0 w 5594726"/>
              <a:gd name="connsiteY3" fmla="*/ 6865085 h 6865085"/>
              <a:gd name="connsiteX4" fmla="*/ 2170935 w 5594726"/>
              <a:gd name="connsiteY4" fmla="*/ 0 h 6865085"/>
              <a:gd name="connsiteX0" fmla="*/ 2170935 w 5594726"/>
              <a:gd name="connsiteY0" fmla="*/ 0 h 6868625"/>
              <a:gd name="connsiteX1" fmla="*/ 5594726 w 5594726"/>
              <a:gd name="connsiteY1" fmla="*/ 0 h 6868625"/>
              <a:gd name="connsiteX2" fmla="*/ 5594726 w 5594726"/>
              <a:gd name="connsiteY2" fmla="*/ 6868625 h 6868625"/>
              <a:gd name="connsiteX3" fmla="*/ 0 w 5594726"/>
              <a:gd name="connsiteY3" fmla="*/ 6865085 h 6868625"/>
              <a:gd name="connsiteX4" fmla="*/ 2170935 w 5594726"/>
              <a:gd name="connsiteY4" fmla="*/ 0 h 686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4726" h="6868625">
                <a:moveTo>
                  <a:pt x="2170935" y="0"/>
                </a:moveTo>
                <a:lnTo>
                  <a:pt x="5594726" y="0"/>
                </a:lnTo>
                <a:lnTo>
                  <a:pt x="5594726" y="6868625"/>
                </a:lnTo>
                <a:lnTo>
                  <a:pt x="0" y="6865085"/>
                </a:lnTo>
                <a:lnTo>
                  <a:pt x="2170935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A7864-26DC-CD03-B372-2CE6009C8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399" y="1040003"/>
            <a:ext cx="3281149" cy="3150159"/>
          </a:xfrm>
        </p:spPr>
        <p:txBody>
          <a:bodyPr anchor="t">
            <a:normAutofit/>
          </a:bodyPr>
          <a:lstStyle/>
          <a:p>
            <a:pPr algn="l"/>
            <a:r>
              <a:rPr lang="ka-GE" sz="3400" dirty="0"/>
              <a:t>თანამედროვე ტექნოლოგიები და მათი გავლენა ენებზე</a:t>
            </a:r>
            <a:endParaRPr lang="en-150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26C91-EFA6-3F54-C390-C46BDDBF0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732" y="4240404"/>
            <a:ext cx="2629574" cy="1577592"/>
          </a:xfrm>
        </p:spPr>
        <p:txBody>
          <a:bodyPr>
            <a:normAutofit/>
          </a:bodyPr>
          <a:lstStyle/>
          <a:p>
            <a:pPr algn="l"/>
            <a:r>
              <a:rPr lang="ka-GE" sz="1600" dirty="0"/>
              <a:t>ილია არქანია</a:t>
            </a:r>
          </a:p>
          <a:p>
            <a:pPr algn="l"/>
            <a:r>
              <a:rPr lang="ka-GE" sz="1600" dirty="0"/>
              <a:t>დათა თავაძე</a:t>
            </a:r>
          </a:p>
          <a:p>
            <a:pPr algn="l"/>
            <a:r>
              <a:rPr lang="ka-GE" sz="1600" dirty="0"/>
              <a:t>რაული შენგელაია</a:t>
            </a:r>
            <a:endParaRPr lang="en-150" sz="16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FBE6D3-8499-4BE7-8C12-1BA9F0150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33558" y="0"/>
            <a:ext cx="6705601" cy="8096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5C1B90-3208-4854-BFDE-310A02639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14060" y="1"/>
            <a:ext cx="510363" cy="685799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B20B9B-B58D-4A05-87A2-6F8C78BD7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365123"/>
            <a:ext cx="589522" cy="649287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CC7CE6-73AD-436F-BC95-066CC950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340702" y="-10737"/>
            <a:ext cx="2851297" cy="16800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92C383-6990-4C74-A5FF-EAB4A1EA2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33557" y="6045958"/>
            <a:ext cx="6876857" cy="8120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40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8" name="Straight Connector 209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9" name="Straight Connector 209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Straight Connector 209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Straight Connector 210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2" name="Straight Connector 210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Straight Connector 210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05" name="Rectangle 2104">
            <a:extLst>
              <a:ext uri="{FF2B5EF4-FFF2-40B4-BE49-F238E27FC236}">
                <a16:creationId xmlns:a16="http://schemas.microsoft.com/office/drawing/2014/main" id="{8590DAC5-BA81-4AF8-B0CA-D66712B3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6" name="Rectangle 2105">
            <a:extLst>
              <a:ext uri="{FF2B5EF4-FFF2-40B4-BE49-F238E27FC236}">
                <a16:creationId xmlns:a16="http://schemas.microsoft.com/office/drawing/2014/main" id="{3BAB7E7E-14BD-4509-AD05-57C2EF74C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14317-0484-8926-CCEE-6CF03E10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734" y="557304"/>
            <a:ext cx="5355265" cy="16257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ენების სახეობები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56CDD469-C83F-46D6-37C8-89019DC81E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3" r="26582" b="2"/>
          <a:stretch>
            <a:fillRect/>
          </a:stretch>
        </p:blipFill>
        <p:spPr bwMode="auto">
          <a:xfrm>
            <a:off x="6" y="10"/>
            <a:ext cx="4742121" cy="3434306"/>
          </a:xfrm>
          <a:custGeom>
            <a:avLst/>
            <a:gdLst/>
            <a:ahLst/>
            <a:cxnLst/>
            <a:rect l="l" t="t" r="r" b="b"/>
            <a:pathLst>
              <a:path w="4742121" h="3429000">
                <a:moveTo>
                  <a:pt x="0" y="0"/>
                </a:moveTo>
                <a:lnTo>
                  <a:pt x="4306186" y="0"/>
                </a:lnTo>
                <a:lnTo>
                  <a:pt x="4742121" y="3429000"/>
                </a:lnTo>
                <a:lnTo>
                  <a:pt x="0" y="3429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EFC811C0-94C6-60CF-68B9-6EA083B41B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47" r="-6333" b="5056"/>
          <a:stretch>
            <a:fillRect/>
          </a:stretch>
        </p:blipFill>
        <p:spPr bwMode="auto">
          <a:xfrm>
            <a:off x="-5" y="3423694"/>
            <a:ext cx="5505860" cy="3434306"/>
          </a:xfrm>
          <a:custGeom>
            <a:avLst/>
            <a:gdLst/>
            <a:ahLst/>
            <a:cxnLst/>
            <a:rect l="l" t="t" r="r" b="b"/>
            <a:pathLst>
              <a:path w="5178056" h="3429000">
                <a:moveTo>
                  <a:pt x="0" y="0"/>
                </a:moveTo>
                <a:lnTo>
                  <a:pt x="4742121" y="0"/>
                </a:lnTo>
                <a:lnTo>
                  <a:pt x="5178056" y="3429000"/>
                </a:lnTo>
                <a:lnTo>
                  <a:pt x="0" y="3429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23D9F-7682-12A5-6FA5-6BDCCB4F9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93734" y="2183035"/>
            <a:ext cx="5355266" cy="41218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სახელმწიფო ენები</a:t>
            </a:r>
          </a:p>
          <a:p>
            <a:r>
              <a:rPr lang="en-US"/>
              <a:t>რეგიონალური ენები</a:t>
            </a:r>
          </a:p>
          <a:p>
            <a:r>
              <a:rPr lang="en-US"/>
              <a:t>დიალექტები</a:t>
            </a:r>
          </a:p>
          <a:p>
            <a:endParaRPr lang="en-US"/>
          </a:p>
        </p:txBody>
      </p:sp>
      <p:cxnSp>
        <p:nvCxnSpPr>
          <p:cNvPr id="2107" name="Straight Connector 2106">
            <a:extLst>
              <a:ext uri="{FF2B5EF4-FFF2-40B4-BE49-F238E27FC236}">
                <a16:creationId xmlns:a16="http://schemas.microsoft.com/office/drawing/2014/main" id="{4836AB60-5854-4E5A-BBFD-9E71A8600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576137" y="0"/>
            <a:ext cx="668374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808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EA9B-6B06-4D97-5BAF-3E2A2F56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ენების სტატუსი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8B135-EBA5-54F8-1A9A-3C2B1EF524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UNESCO</a:t>
            </a:r>
            <a:r>
              <a:rPr lang="ka-GE" dirty="0"/>
              <a:t>-ს კლასიფიკაციები</a:t>
            </a:r>
          </a:p>
          <a:p>
            <a:r>
              <a:rPr lang="ka-GE" dirty="0"/>
              <a:t>მეგრული და სვანური გაქრობის საშიშროების წინაშე მდგარი ენებია</a:t>
            </a:r>
            <a:endParaRPr lang="en-15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0477A7-FA93-750B-5365-F2E93631CD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7862" y="4416115"/>
            <a:ext cx="5181600" cy="1553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0E58F2-1B5B-909B-2E6B-1EA4E9699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665320"/>
            <a:ext cx="5852921" cy="24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5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A019C-130D-1986-B556-827C528F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ტექნოლოგიების გავლენა ენებზე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7105D-2FE3-B865-0353-E1BE47B9D9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150" dirty="0" err="1"/>
              <a:t>სოციალური</a:t>
            </a:r>
            <a:r>
              <a:rPr lang="en-150" dirty="0"/>
              <a:t> </a:t>
            </a:r>
            <a:r>
              <a:rPr lang="ka-GE" dirty="0"/>
              <a:t>ქსელები</a:t>
            </a:r>
            <a:endParaRPr lang="en-US" dirty="0"/>
          </a:p>
          <a:p>
            <a:r>
              <a:rPr lang="ka-GE" dirty="0"/>
              <a:t>ინგლისური დამკვიდრდა ტექნოლოგიურ ენად</a:t>
            </a:r>
          </a:p>
          <a:p>
            <a:r>
              <a:rPr lang="en-US" dirty="0"/>
              <a:t>Google</a:t>
            </a:r>
            <a:endParaRPr lang="ka-GE" dirty="0"/>
          </a:p>
          <a:p>
            <a:r>
              <a:rPr lang="en-150" dirty="0" err="1"/>
              <a:t>ხელოვნური</a:t>
            </a:r>
            <a:r>
              <a:rPr lang="en-150" dirty="0"/>
              <a:t> </a:t>
            </a:r>
            <a:r>
              <a:rPr lang="en-150" dirty="0" err="1"/>
              <a:t>ინტელექტი</a:t>
            </a:r>
            <a:endParaRPr lang="en-150" dirty="0"/>
          </a:p>
        </p:txBody>
      </p:sp>
      <p:pic>
        <p:nvPicPr>
          <p:cNvPr id="3074" name="Picture 2" descr="Say It Ain't So – Social Media Could Allow Slang To Become Accepted Grammar">
            <a:extLst>
              <a:ext uri="{FF2B5EF4-FFF2-40B4-BE49-F238E27FC236}">
                <a16:creationId xmlns:a16="http://schemas.microsoft.com/office/drawing/2014/main" id="{D054328F-D24D-DA1E-9BD7-A8E8DA7EC17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97276"/>
            <a:ext cx="5181600" cy="390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32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333A-0DBB-7C25-1064-4C5A5717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/>
              <a:t>როგორ ეხმარება ტექნოლოგია ენებს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7673-C4FA-CE00-6B41-5964D70C1D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a-GE">
                <a:hlinkClick r:id="rId2"/>
              </a:rPr>
              <a:t>ციფრული ლექსიკონები</a:t>
            </a:r>
            <a:endParaRPr lang="ka-GE"/>
          </a:p>
          <a:p>
            <a:r>
              <a:rPr lang="ka-GE"/>
              <a:t>ენის სწავლის უამრავი რესურსი</a:t>
            </a:r>
          </a:p>
          <a:p>
            <a:r>
              <a:rPr lang="ka-GE"/>
              <a:t>ხელოვნური ინტელექტი და თარგმანი</a:t>
            </a:r>
            <a:endParaRPr lang="ka-GE" dirty="0"/>
          </a:p>
        </p:txBody>
      </p:sp>
      <p:pic>
        <p:nvPicPr>
          <p:cNvPr id="4098" name="Picture 2" descr="The Influence of Social Media on Language Learning Trends">
            <a:extLst>
              <a:ext uri="{FF2B5EF4-FFF2-40B4-BE49-F238E27FC236}">
                <a16:creationId xmlns:a16="http://schemas.microsoft.com/office/drawing/2014/main" id="{7B0C9CF7-1135-165A-F2EC-FDFC5A2347A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08873"/>
            <a:ext cx="5181600" cy="308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20DA33-9607-8D71-2588-807E714E7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147" y="0"/>
            <a:ext cx="5457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01A0-47C5-7393-90DB-05D3E4EC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შეჯამება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0A49-D2CC-B006-41ED-DB36A1D38C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a-GE" dirty="0"/>
              <a:t>მომავლის ტენდეციები</a:t>
            </a:r>
          </a:p>
          <a:p>
            <a:r>
              <a:rPr lang="ka-GE" dirty="0"/>
              <a:t>ტექნოლოგიების გავლენა ენებზე</a:t>
            </a:r>
            <a:endParaRPr lang="en-15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7F05E-E1E6-902C-74E9-3487D7EEA0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1535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B5B34D-3E10-CD65-0821-55A4C5B56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0" y="1239078"/>
            <a:ext cx="7802880" cy="32315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მადლობა ყურადღებისათვის!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DF8BFA-0AD7-2891-BCD8-540B1B7D3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4617719"/>
            <a:ext cx="6156961" cy="1259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800" b="1" cap="all" spc="300">
                <a:solidFill>
                  <a:schemeClr val="tx2"/>
                </a:solidFill>
              </a:rPr>
              <a:t>კითხვები?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2" y="19556"/>
            <a:ext cx="8547253" cy="23223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1" y="0"/>
            <a:ext cx="1461005" cy="46177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935720" y="3957320"/>
            <a:ext cx="3272713" cy="29006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3326" y="0"/>
            <a:ext cx="1332509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37960" y="0"/>
            <a:ext cx="5654039" cy="220625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5196840"/>
            <a:ext cx="5181599" cy="16416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14478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70</Words>
  <Application>Microsoft Office PowerPoint</Application>
  <PresentationFormat>Widescreen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Univers Condensed Light</vt:lpstr>
      <vt:lpstr>Walbaum Display Light</vt:lpstr>
      <vt:lpstr>AngleLinesVTI</vt:lpstr>
      <vt:lpstr>თანამედროვე ტექნოლოგიები და მათი გავლენა ენებზე</vt:lpstr>
      <vt:lpstr>ენების სახეობები</vt:lpstr>
      <vt:lpstr>ენების სტატუსი</vt:lpstr>
      <vt:lpstr>ტექნოლოგიების გავლენა ენებზე</vt:lpstr>
      <vt:lpstr>როგორ ეხმარება ტექნოლოგია ენებს</vt:lpstr>
      <vt:lpstr>შეჯამება</vt:lpstr>
      <vt:lpstr>მადლობა ყურადღებისათვის!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Ilia Arkania</dc:creator>
  <cp:lastModifiedBy>Ilia Arkania</cp:lastModifiedBy>
  <cp:revision>5</cp:revision>
  <dcterms:created xsi:type="dcterms:W3CDTF">2026-05-03T22:37:45Z</dcterms:created>
  <dcterms:modified xsi:type="dcterms:W3CDTF">2026-05-04T19:50:29Z</dcterms:modified>
</cp:coreProperties>
</file>